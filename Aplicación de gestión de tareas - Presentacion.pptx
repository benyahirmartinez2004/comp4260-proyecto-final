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B5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C8AEB7-1E32-4FFC-A73B-508DB87B314D}" v="9" dt="2026-05-17T01:31:43.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yahir Martínez" userId="ad87d527813c7f5d" providerId="LiveId" clId="{E6F9B98A-49FA-44C5-97C9-066B5CE0FC39}"/>
    <pc:docChg chg="undo custSel addSld modSld sldOrd">
      <pc:chgData name="Benyahir Martínez" userId="ad87d527813c7f5d" providerId="LiveId" clId="{E6F9B98A-49FA-44C5-97C9-066B5CE0FC39}" dt="2026-05-17T01:31:52.530" v="5897" actId="1076"/>
      <pc:docMkLst>
        <pc:docMk/>
      </pc:docMkLst>
      <pc:sldChg chg="modSp mod">
        <pc:chgData name="Benyahir Martínez" userId="ad87d527813c7f5d" providerId="LiveId" clId="{E6F9B98A-49FA-44C5-97C9-066B5CE0FC39}" dt="2026-05-16T18:56:09.682" v="5798" actId="20577"/>
        <pc:sldMkLst>
          <pc:docMk/>
          <pc:sldMk cId="1813318222" sldId="256"/>
        </pc:sldMkLst>
        <pc:spChg chg="mod">
          <ac:chgData name="Benyahir Martínez" userId="ad87d527813c7f5d" providerId="LiveId" clId="{E6F9B98A-49FA-44C5-97C9-066B5CE0FC39}" dt="2026-05-16T18:56:09.682" v="5798" actId="20577"/>
          <ac:spMkLst>
            <pc:docMk/>
            <pc:sldMk cId="1813318222" sldId="256"/>
            <ac:spMk id="3" creationId="{FD49C3DE-EEFC-C18B-7618-19537E6D7B6C}"/>
          </ac:spMkLst>
        </pc:spChg>
      </pc:sldChg>
      <pc:sldChg chg="modSp mod">
        <pc:chgData name="Benyahir Martínez" userId="ad87d527813c7f5d" providerId="LiveId" clId="{E6F9B98A-49FA-44C5-97C9-066B5CE0FC39}" dt="2026-05-15T17:28:35.152" v="4373" actId="5793"/>
        <pc:sldMkLst>
          <pc:docMk/>
          <pc:sldMk cId="4232916595" sldId="257"/>
        </pc:sldMkLst>
        <pc:spChg chg="mod">
          <ac:chgData name="Benyahir Martínez" userId="ad87d527813c7f5d" providerId="LiveId" clId="{E6F9B98A-49FA-44C5-97C9-066B5CE0FC39}" dt="2026-05-15T17:28:35.152" v="4373" actId="5793"/>
          <ac:spMkLst>
            <pc:docMk/>
            <pc:sldMk cId="4232916595" sldId="257"/>
            <ac:spMk id="3" creationId="{49466FD3-CA82-C7CF-9034-A964F4787036}"/>
          </ac:spMkLst>
        </pc:spChg>
      </pc:sldChg>
      <pc:sldChg chg="addSp delSp modSp mod">
        <pc:chgData name="Benyahir Martínez" userId="ad87d527813c7f5d" providerId="LiveId" clId="{E6F9B98A-49FA-44C5-97C9-066B5CE0FC39}" dt="2026-05-16T19:51:24.122" v="5891" actId="1076"/>
        <pc:sldMkLst>
          <pc:docMk/>
          <pc:sldMk cId="2913458095" sldId="258"/>
        </pc:sldMkLst>
        <pc:picChg chg="add del mod">
          <ac:chgData name="Benyahir Martínez" userId="ad87d527813c7f5d" providerId="LiveId" clId="{E6F9B98A-49FA-44C5-97C9-066B5CE0FC39}" dt="2026-05-16T19:19:07.460" v="5799" actId="478"/>
          <ac:picMkLst>
            <pc:docMk/>
            <pc:sldMk cId="2913458095" sldId="258"/>
            <ac:picMk id="4" creationId="{62D139B6-A116-D22B-DC4C-3DEAB995417A}"/>
          </ac:picMkLst>
        </pc:picChg>
        <pc:picChg chg="add mod">
          <ac:chgData name="Benyahir Martínez" userId="ad87d527813c7f5d" providerId="LiveId" clId="{E6F9B98A-49FA-44C5-97C9-066B5CE0FC39}" dt="2026-05-16T19:51:24.122" v="5891" actId="1076"/>
          <ac:picMkLst>
            <pc:docMk/>
            <pc:sldMk cId="2913458095" sldId="258"/>
            <ac:picMk id="4" creationId="{86E3CC44-5FB9-EB3E-314C-A370C2550F23}"/>
          </ac:picMkLst>
        </pc:picChg>
        <pc:picChg chg="add del mod">
          <ac:chgData name="Benyahir Martínez" userId="ad87d527813c7f5d" providerId="LiveId" clId="{E6F9B98A-49FA-44C5-97C9-066B5CE0FC39}" dt="2026-05-16T19:44:59.436" v="5803" actId="478"/>
          <ac:picMkLst>
            <pc:docMk/>
            <pc:sldMk cId="2913458095" sldId="258"/>
            <ac:picMk id="5" creationId="{D69F5457-6743-7C6D-D96E-EED4A381DFDF}"/>
          </ac:picMkLst>
        </pc:picChg>
      </pc:sldChg>
      <pc:sldChg chg="addSp delSp modSp mod">
        <pc:chgData name="Benyahir Martínez" userId="ad87d527813c7f5d" providerId="LiveId" clId="{E6F9B98A-49FA-44C5-97C9-066B5CE0FC39}" dt="2026-05-16T19:50:41.626" v="5887" actId="1076"/>
        <pc:sldMkLst>
          <pc:docMk/>
          <pc:sldMk cId="341351138" sldId="259"/>
        </pc:sldMkLst>
        <pc:spChg chg="mod">
          <ac:chgData name="Benyahir Martínez" userId="ad87d527813c7f5d" providerId="LiveId" clId="{E6F9B98A-49FA-44C5-97C9-066B5CE0FC39}" dt="2026-05-13T23:10:37.848" v="3078" actId="1076"/>
          <ac:spMkLst>
            <pc:docMk/>
            <pc:sldMk cId="341351138" sldId="259"/>
            <ac:spMk id="2" creationId="{BBE2C0D0-E7F0-547B-E39B-36A2BD9F623E}"/>
          </ac:spMkLst>
        </pc:spChg>
        <pc:graphicFrameChg chg="add mod modGraphic">
          <ac:chgData name="Benyahir Martínez" userId="ad87d527813c7f5d" providerId="LiveId" clId="{E6F9B98A-49FA-44C5-97C9-066B5CE0FC39}" dt="2026-05-16T19:50:41.626" v="5887" actId="1076"/>
          <ac:graphicFrameMkLst>
            <pc:docMk/>
            <pc:sldMk cId="341351138" sldId="259"/>
            <ac:graphicFrameMk id="4" creationId="{3C97716F-46D0-E9B8-752E-63A7A0E0F981}"/>
          </ac:graphicFrameMkLst>
        </pc:graphicFrameChg>
      </pc:sldChg>
      <pc:sldChg chg="modSp mod">
        <pc:chgData name="Benyahir Martínez" userId="ad87d527813c7f5d" providerId="LiveId" clId="{E6F9B98A-49FA-44C5-97C9-066B5CE0FC39}" dt="2026-05-14T00:08:05.828" v="4349" actId="20577"/>
        <pc:sldMkLst>
          <pc:docMk/>
          <pc:sldMk cId="3668443286" sldId="260"/>
        </pc:sldMkLst>
        <pc:spChg chg="mod">
          <ac:chgData name="Benyahir Martínez" userId="ad87d527813c7f5d" providerId="LiveId" clId="{E6F9B98A-49FA-44C5-97C9-066B5CE0FC39}" dt="2026-05-14T00:08:05.828" v="4349" actId="20577"/>
          <ac:spMkLst>
            <pc:docMk/>
            <pc:sldMk cId="3668443286" sldId="260"/>
            <ac:spMk id="3" creationId="{7C191DAC-663C-3CE4-13C7-D8C708E9D391}"/>
          </ac:spMkLst>
        </pc:spChg>
      </pc:sldChg>
      <pc:sldChg chg="modSp mod">
        <pc:chgData name="Benyahir Martínez" userId="ad87d527813c7f5d" providerId="LiveId" clId="{E6F9B98A-49FA-44C5-97C9-066B5CE0FC39}" dt="2026-05-16T18:51:12.478" v="5797" actId="20577"/>
        <pc:sldMkLst>
          <pc:docMk/>
          <pc:sldMk cId="1895646420" sldId="261"/>
        </pc:sldMkLst>
        <pc:spChg chg="mod">
          <ac:chgData name="Benyahir Martínez" userId="ad87d527813c7f5d" providerId="LiveId" clId="{E6F9B98A-49FA-44C5-97C9-066B5CE0FC39}" dt="2026-05-16T18:51:12.478" v="5797" actId="20577"/>
          <ac:spMkLst>
            <pc:docMk/>
            <pc:sldMk cId="1895646420" sldId="261"/>
            <ac:spMk id="3" creationId="{D5641161-2103-4656-0303-E4969531F3B4}"/>
          </ac:spMkLst>
        </pc:spChg>
      </pc:sldChg>
      <pc:sldChg chg="modSp mod">
        <pc:chgData name="Benyahir Martínez" userId="ad87d527813c7f5d" providerId="LiveId" clId="{E6F9B98A-49FA-44C5-97C9-066B5CE0FC39}" dt="2026-05-15T18:32:01.985" v="4374" actId="1076"/>
        <pc:sldMkLst>
          <pc:docMk/>
          <pc:sldMk cId="1568883791" sldId="262"/>
        </pc:sldMkLst>
        <pc:picChg chg="mod">
          <ac:chgData name="Benyahir Martínez" userId="ad87d527813c7f5d" providerId="LiveId" clId="{E6F9B98A-49FA-44C5-97C9-066B5CE0FC39}" dt="2026-05-15T18:32:01.985" v="4374" actId="1076"/>
          <ac:picMkLst>
            <pc:docMk/>
            <pc:sldMk cId="1568883791" sldId="262"/>
            <ac:picMk id="6" creationId="{1B161201-B95C-F9C9-3B15-5090C4126783}"/>
          </ac:picMkLst>
        </pc:picChg>
      </pc:sldChg>
      <pc:sldChg chg="addSp modSp new mod ord modAnim">
        <pc:chgData name="Benyahir Martínez" userId="ad87d527813c7f5d" providerId="LiveId" clId="{E6F9B98A-49FA-44C5-97C9-066B5CE0FC39}" dt="2026-05-17T01:31:52.530" v="5897" actId="1076"/>
        <pc:sldMkLst>
          <pc:docMk/>
          <pc:sldMk cId="398183496" sldId="263"/>
        </pc:sldMkLst>
        <pc:picChg chg="add mod">
          <ac:chgData name="Benyahir Martínez" userId="ad87d527813c7f5d" providerId="LiveId" clId="{E6F9B98A-49FA-44C5-97C9-066B5CE0FC39}" dt="2026-05-17T01:31:52.530" v="5897" actId="1076"/>
          <ac:picMkLst>
            <pc:docMk/>
            <pc:sldMk cId="398183496" sldId="263"/>
            <ac:picMk id="2" creationId="{CB4C80D7-3EF3-AE39-56BC-F5813CE79E9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09491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3618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6070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74219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6557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461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9850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102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069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9748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5/16/2026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9677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5/16/2026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5861626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0mlYeS43Geg?feature=oembed"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2679307D-2E84-06BA-A3D8-7D89A3A5D74D}"/>
              </a:ext>
            </a:extLst>
          </p:cNvPr>
          <p:cNvPicPr>
            <a:picLocks noChangeAspect="1"/>
          </p:cNvPicPr>
          <p:nvPr/>
        </p:nvPicPr>
        <p:blipFill>
          <a:blip r:embed="rId2">
            <a:alphaModFix amt="40000"/>
          </a:blip>
          <a:srcRect t="29493" b="14257"/>
          <a:stretch>
            <a:fillRect/>
          </a:stretch>
        </p:blipFill>
        <p:spPr>
          <a:xfrm>
            <a:off x="-2" y="-4"/>
            <a:ext cx="12192001" cy="6858001"/>
          </a:xfrm>
          <a:prstGeom prst="rect">
            <a:avLst/>
          </a:prstGeom>
        </p:spPr>
      </p:pic>
      <p:sp>
        <p:nvSpPr>
          <p:cNvPr id="2" name="Title 1">
            <a:extLst>
              <a:ext uri="{FF2B5EF4-FFF2-40B4-BE49-F238E27FC236}">
                <a16:creationId xmlns:a16="http://schemas.microsoft.com/office/drawing/2014/main" id="{FFCDB408-8659-8953-C760-6F0F253DA491}"/>
              </a:ext>
            </a:extLst>
          </p:cNvPr>
          <p:cNvSpPr>
            <a:spLocks noGrp="1"/>
          </p:cNvSpPr>
          <p:nvPr>
            <p:ph type="ctrTitle"/>
          </p:nvPr>
        </p:nvSpPr>
        <p:spPr>
          <a:xfrm>
            <a:off x="517870" y="978408"/>
            <a:ext cx="5021182" cy="2450592"/>
          </a:xfrm>
        </p:spPr>
        <p:txBody>
          <a:bodyPr anchor="t">
            <a:normAutofit/>
          </a:bodyPr>
          <a:lstStyle/>
          <a:p>
            <a:pPr>
              <a:lnSpc>
                <a:spcPct val="90000"/>
              </a:lnSpc>
            </a:pPr>
            <a:r>
              <a:rPr lang="es-PR" sz="5600">
                <a:solidFill>
                  <a:srgbClr val="FFFFFF"/>
                </a:solidFill>
              </a:rPr>
              <a:t>Aplicación de gestión de tareas</a:t>
            </a:r>
          </a:p>
        </p:txBody>
      </p:sp>
      <p:sp>
        <p:nvSpPr>
          <p:cNvPr id="3" name="Subtitle 2">
            <a:extLst>
              <a:ext uri="{FF2B5EF4-FFF2-40B4-BE49-F238E27FC236}">
                <a16:creationId xmlns:a16="http://schemas.microsoft.com/office/drawing/2014/main" id="{FD49C3DE-EEFC-C18B-7618-19537E6D7B6C}"/>
              </a:ext>
            </a:extLst>
          </p:cNvPr>
          <p:cNvSpPr>
            <a:spLocks noGrp="1"/>
          </p:cNvSpPr>
          <p:nvPr>
            <p:ph type="subTitle" idx="1"/>
          </p:nvPr>
        </p:nvSpPr>
        <p:spPr>
          <a:xfrm>
            <a:off x="6652366" y="4017818"/>
            <a:ext cx="5040785" cy="1828799"/>
          </a:xfrm>
        </p:spPr>
        <p:txBody>
          <a:bodyPr anchor="b">
            <a:normAutofit/>
          </a:bodyPr>
          <a:lstStyle/>
          <a:p>
            <a:pPr>
              <a:lnSpc>
                <a:spcPct val="100000"/>
              </a:lnSpc>
            </a:pPr>
            <a:r>
              <a:rPr lang="es-PR" sz="1500" dirty="0">
                <a:solidFill>
                  <a:srgbClr val="FFFFFF"/>
                </a:solidFill>
              </a:rPr>
              <a:t>Universidad Interamericana – Recinto de Arecibo</a:t>
            </a:r>
          </a:p>
          <a:p>
            <a:pPr>
              <a:lnSpc>
                <a:spcPct val="100000"/>
              </a:lnSpc>
            </a:pPr>
            <a:r>
              <a:rPr lang="es-PR" sz="1500" dirty="0">
                <a:solidFill>
                  <a:srgbClr val="FFFFFF"/>
                </a:solidFill>
              </a:rPr>
              <a:t>Benyahir Y. Martínez Hermina – R00624824</a:t>
            </a:r>
          </a:p>
          <a:p>
            <a:pPr>
              <a:lnSpc>
                <a:spcPct val="100000"/>
              </a:lnSpc>
            </a:pPr>
            <a:r>
              <a:rPr lang="es-PR" sz="1500" dirty="0">
                <a:solidFill>
                  <a:srgbClr val="FFFFFF"/>
                </a:solidFill>
              </a:rPr>
              <a:t>Adriana M. Marrero Sánchez – R00627200</a:t>
            </a:r>
          </a:p>
          <a:p>
            <a:pPr>
              <a:lnSpc>
                <a:spcPct val="100000"/>
              </a:lnSpc>
            </a:pPr>
            <a:r>
              <a:rPr lang="es-PR" sz="1500" dirty="0">
                <a:solidFill>
                  <a:srgbClr val="FFFFFF"/>
                </a:solidFill>
              </a:rPr>
              <a:t>Curso: Cloud Computing (COMP 4260)</a:t>
            </a:r>
          </a:p>
          <a:p>
            <a:pPr>
              <a:lnSpc>
                <a:spcPct val="100000"/>
              </a:lnSpc>
            </a:pPr>
            <a:r>
              <a:rPr lang="es-PR" sz="1500" dirty="0">
                <a:solidFill>
                  <a:srgbClr val="FFFFFF"/>
                </a:solidFill>
              </a:rPr>
              <a:t>Profesor: Javier A. Dastas</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3318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D518C-FFA1-0E6F-8DDC-0956F9787D94}"/>
              </a:ext>
            </a:extLst>
          </p:cNvPr>
          <p:cNvSpPr>
            <a:spLocks noGrp="1"/>
          </p:cNvSpPr>
          <p:nvPr>
            <p:ph type="title"/>
          </p:nvPr>
        </p:nvSpPr>
        <p:spPr>
          <a:xfrm>
            <a:off x="521208" y="978408"/>
            <a:ext cx="11155680" cy="1056869"/>
          </a:xfrm>
        </p:spPr>
        <p:txBody>
          <a:bodyPr/>
          <a:lstStyle/>
          <a:p>
            <a:r>
              <a:rPr lang="es-PR" dirty="0"/>
              <a:t>Descripción del Proyecto:</a:t>
            </a:r>
          </a:p>
        </p:txBody>
      </p:sp>
      <p:sp>
        <p:nvSpPr>
          <p:cNvPr id="3" name="Content Placeholder 2">
            <a:extLst>
              <a:ext uri="{FF2B5EF4-FFF2-40B4-BE49-F238E27FC236}">
                <a16:creationId xmlns:a16="http://schemas.microsoft.com/office/drawing/2014/main" id="{49466FD3-CA82-C7CF-9034-A964F4787036}"/>
              </a:ext>
            </a:extLst>
          </p:cNvPr>
          <p:cNvSpPr>
            <a:spLocks noGrp="1"/>
          </p:cNvSpPr>
          <p:nvPr>
            <p:ph idx="1"/>
          </p:nvPr>
        </p:nvSpPr>
        <p:spPr>
          <a:xfrm>
            <a:off x="521208" y="2182761"/>
            <a:ext cx="11155680" cy="4163175"/>
          </a:xfrm>
        </p:spPr>
        <p:txBody>
          <a:bodyPr/>
          <a:lstStyle/>
          <a:p>
            <a:r>
              <a:rPr lang="es-PR" noProof="0" dirty="0"/>
              <a:t>¿Qué hace la aplicación?</a:t>
            </a:r>
          </a:p>
          <a:p>
            <a:pPr lvl="1"/>
            <a:r>
              <a:rPr lang="es-PR" noProof="0" dirty="0"/>
              <a:t>La </a:t>
            </a:r>
            <a:r>
              <a:rPr lang="es-PR" dirty="0"/>
              <a:t>aplicación permite que el usuario pueda agregar una o varias tareas en una lista. En donde este puede marcar las tareas que este haya realizado y eliminar las tareas de la lista para seguir añadiendo tareas para evitar la confusión de lo que se haya realizado.</a:t>
            </a:r>
            <a:endParaRPr lang="es-PR" noProof="0" dirty="0"/>
          </a:p>
          <a:p>
            <a:r>
              <a:rPr lang="es-PR" noProof="0" dirty="0"/>
              <a:t>¿A qué necesidad responde?</a:t>
            </a:r>
          </a:p>
          <a:p>
            <a:pPr lvl="1"/>
            <a:r>
              <a:rPr lang="es-PR" noProof="0" dirty="0"/>
              <a:t>Responde </a:t>
            </a:r>
            <a:r>
              <a:rPr lang="es-PR" dirty="0"/>
              <a:t>a la necesidad de personas de tener un lugar donde puedan mantenerse en día de las cosas que tienen que realizar tras el transcurso del día. Por ejemplo si un usuario en su trabajo le es otorgado con labores que tiene que realizar en es día, el usuario puede anotar estas en la aplicación para tener un mejor visualización de lo que tiene que hacer y mejor control en como tiene que hacerlo.</a:t>
            </a:r>
            <a:endParaRPr lang="es-PR" noProof="0" dirty="0"/>
          </a:p>
          <a:p>
            <a:pPr marL="0" indent="0">
              <a:buNone/>
            </a:pPr>
            <a:endParaRPr lang="es-PR" noProof="0" dirty="0"/>
          </a:p>
        </p:txBody>
      </p:sp>
    </p:spTree>
    <p:extLst>
      <p:ext uri="{BB962C8B-B14F-4D97-AF65-F5344CB8AC3E}">
        <p14:creationId xmlns:p14="http://schemas.microsoft.com/office/powerpoint/2010/main" val="423291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8E95E2-0FE6-F700-1CCE-51C600B84E9A}"/>
              </a:ext>
            </a:extLst>
          </p:cNvPr>
          <p:cNvSpPr txBox="1"/>
          <p:nvPr/>
        </p:nvSpPr>
        <p:spPr>
          <a:xfrm>
            <a:off x="442453" y="305251"/>
            <a:ext cx="5289754" cy="461665"/>
          </a:xfrm>
          <a:prstGeom prst="rect">
            <a:avLst/>
          </a:prstGeom>
          <a:noFill/>
        </p:spPr>
        <p:txBody>
          <a:bodyPr wrap="square" rtlCol="0">
            <a:spAutoFit/>
          </a:bodyPr>
          <a:lstStyle/>
          <a:p>
            <a:r>
              <a:rPr lang="es-PR" sz="2400" b="1" dirty="0"/>
              <a:t>Arquitectura en Azure:</a:t>
            </a:r>
          </a:p>
        </p:txBody>
      </p:sp>
      <p:pic>
        <p:nvPicPr>
          <p:cNvPr id="4" name="Picture 3">
            <a:extLst>
              <a:ext uri="{FF2B5EF4-FFF2-40B4-BE49-F238E27FC236}">
                <a16:creationId xmlns:a16="http://schemas.microsoft.com/office/drawing/2014/main" id="{86E3CC44-5FB9-EB3E-314C-A370C2550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5418" y="894522"/>
            <a:ext cx="6321164" cy="5883965"/>
          </a:xfrm>
          <a:prstGeom prst="rect">
            <a:avLst/>
          </a:prstGeom>
        </p:spPr>
      </p:pic>
    </p:spTree>
    <p:extLst>
      <p:ext uri="{BB962C8B-B14F-4D97-AF65-F5344CB8AC3E}">
        <p14:creationId xmlns:p14="http://schemas.microsoft.com/office/powerpoint/2010/main" val="291345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A1777-BD75-1B0A-0B85-F6F99A1DB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2C0D0-E7F0-547B-E39B-36A2BD9F623E}"/>
              </a:ext>
            </a:extLst>
          </p:cNvPr>
          <p:cNvSpPr>
            <a:spLocks noGrp="1"/>
          </p:cNvSpPr>
          <p:nvPr>
            <p:ph type="title"/>
          </p:nvPr>
        </p:nvSpPr>
        <p:spPr>
          <a:xfrm>
            <a:off x="521208" y="738606"/>
            <a:ext cx="11155680" cy="1056869"/>
          </a:xfrm>
        </p:spPr>
        <p:txBody>
          <a:bodyPr/>
          <a:lstStyle/>
          <a:p>
            <a:r>
              <a:rPr lang="es-PR" dirty="0"/>
              <a:t>Tecnología Utilizada:</a:t>
            </a:r>
          </a:p>
        </p:txBody>
      </p:sp>
      <p:graphicFrame>
        <p:nvGraphicFramePr>
          <p:cNvPr id="4" name="Table 3">
            <a:extLst>
              <a:ext uri="{FF2B5EF4-FFF2-40B4-BE49-F238E27FC236}">
                <a16:creationId xmlns:a16="http://schemas.microsoft.com/office/drawing/2014/main" id="{3C97716F-46D0-E9B8-752E-63A7A0E0F981}"/>
              </a:ext>
            </a:extLst>
          </p:cNvPr>
          <p:cNvGraphicFramePr>
            <a:graphicFrameLocks noGrp="1"/>
          </p:cNvGraphicFramePr>
          <p:nvPr>
            <p:extLst>
              <p:ext uri="{D42A27DB-BD31-4B8C-83A1-F6EECF244321}">
                <p14:modId xmlns:p14="http://schemas.microsoft.com/office/powerpoint/2010/main" val="3369104809"/>
              </p:ext>
            </p:extLst>
          </p:nvPr>
        </p:nvGraphicFramePr>
        <p:xfrm>
          <a:off x="1252330" y="1379839"/>
          <a:ext cx="9482196" cy="5444836"/>
        </p:xfrm>
        <a:graphic>
          <a:graphicData uri="http://schemas.openxmlformats.org/drawingml/2006/table">
            <a:tbl>
              <a:tblPr firstRow="1" bandRow="1">
                <a:tableStyleId>{5C22544A-7EE6-4342-B048-85BDC9FD1C3A}</a:tableStyleId>
              </a:tblPr>
              <a:tblGrid>
                <a:gridCol w="3856007">
                  <a:extLst>
                    <a:ext uri="{9D8B030D-6E8A-4147-A177-3AD203B41FA5}">
                      <a16:colId xmlns:a16="http://schemas.microsoft.com/office/drawing/2014/main" val="4073299228"/>
                    </a:ext>
                  </a:extLst>
                </a:gridCol>
                <a:gridCol w="5626189">
                  <a:extLst>
                    <a:ext uri="{9D8B030D-6E8A-4147-A177-3AD203B41FA5}">
                      <a16:colId xmlns:a16="http://schemas.microsoft.com/office/drawing/2014/main" val="3756710585"/>
                    </a:ext>
                  </a:extLst>
                </a:gridCol>
              </a:tblGrid>
              <a:tr h="330324">
                <a:tc>
                  <a:txBody>
                    <a:bodyPr/>
                    <a:lstStyle/>
                    <a:p>
                      <a:r>
                        <a:rPr lang="es-PR" dirty="0"/>
                        <a:t>Tecnología</a:t>
                      </a:r>
                    </a:p>
                  </a:txBody>
                  <a:tcPr>
                    <a:solidFill>
                      <a:srgbClr val="7030A0"/>
                    </a:solidFill>
                  </a:tcPr>
                </a:tc>
                <a:tc>
                  <a:txBody>
                    <a:bodyPr/>
                    <a:lstStyle/>
                    <a:p>
                      <a:r>
                        <a:rPr lang="es-PR" dirty="0"/>
                        <a:t>Función</a:t>
                      </a:r>
                    </a:p>
                  </a:txBody>
                  <a:tcPr>
                    <a:solidFill>
                      <a:srgbClr val="7030A0"/>
                    </a:solidFill>
                  </a:tcPr>
                </a:tc>
                <a:extLst>
                  <a:ext uri="{0D108BD9-81ED-4DB2-BD59-A6C34878D82A}">
                    <a16:rowId xmlns:a16="http://schemas.microsoft.com/office/drawing/2014/main" val="3239882037"/>
                  </a:ext>
                </a:extLst>
              </a:tr>
              <a:tr h="578067">
                <a:tc>
                  <a:txBody>
                    <a:bodyPr/>
                    <a:lstStyle/>
                    <a:p>
                      <a:r>
                        <a:rPr lang="es-PR" dirty="0"/>
                        <a:t>Azure SQL </a:t>
                      </a:r>
                      <a:r>
                        <a:rPr lang="es-PR" dirty="0" err="1"/>
                        <a:t>Database</a:t>
                      </a:r>
                      <a:endParaRPr lang="es-PR" dirty="0"/>
                    </a:p>
                  </a:txBody>
                  <a:tcPr/>
                </a:tc>
                <a:tc>
                  <a:txBody>
                    <a:bodyPr/>
                    <a:lstStyle/>
                    <a:p>
                      <a:r>
                        <a:rPr lang="es-PR" dirty="0"/>
                        <a:t>Recurso donde se estará almacenando los datos del sistema de las aplicaciones.</a:t>
                      </a:r>
                    </a:p>
                  </a:txBody>
                  <a:tcPr/>
                </a:tc>
                <a:extLst>
                  <a:ext uri="{0D108BD9-81ED-4DB2-BD59-A6C34878D82A}">
                    <a16:rowId xmlns:a16="http://schemas.microsoft.com/office/drawing/2014/main" val="2123658559"/>
                  </a:ext>
                </a:extLst>
              </a:tr>
              <a:tr h="710738">
                <a:tc>
                  <a:txBody>
                    <a:bodyPr/>
                    <a:lstStyle/>
                    <a:p>
                      <a:r>
                        <a:rPr lang="es-PR" dirty="0"/>
                        <a:t>Azure App Service</a:t>
                      </a:r>
                    </a:p>
                  </a:txBody>
                  <a:tcPr/>
                </a:tc>
                <a:tc>
                  <a:txBody>
                    <a:bodyPr/>
                    <a:lstStyle/>
                    <a:p>
                      <a:r>
                        <a:rPr lang="es-PR" dirty="0"/>
                        <a:t>Donde se aloja nuestras aplicaciones web y también donde podemos controlar el funcionamiento de esta.</a:t>
                      </a:r>
                    </a:p>
                  </a:txBody>
                  <a:tcPr/>
                </a:tc>
                <a:extLst>
                  <a:ext uri="{0D108BD9-81ED-4DB2-BD59-A6C34878D82A}">
                    <a16:rowId xmlns:a16="http://schemas.microsoft.com/office/drawing/2014/main" val="3783686245"/>
                  </a:ext>
                </a:extLst>
              </a:tr>
              <a:tr h="825810">
                <a:tc>
                  <a:txBody>
                    <a:bodyPr/>
                    <a:lstStyle/>
                    <a:p>
                      <a:r>
                        <a:rPr lang="es-PR" dirty="0"/>
                        <a:t>Azure </a:t>
                      </a:r>
                      <a:r>
                        <a:rPr lang="es-PR" dirty="0" err="1"/>
                        <a:t>Account</a:t>
                      </a:r>
                      <a:r>
                        <a:rPr lang="es-PR" dirty="0"/>
                        <a:t> Storage</a:t>
                      </a:r>
                    </a:p>
                  </a:txBody>
                  <a:tcPr/>
                </a:tc>
                <a:tc>
                  <a:txBody>
                    <a:bodyPr/>
                    <a:lstStyle/>
                    <a:p>
                      <a:r>
                        <a:rPr lang="es-ES" sz="1800" b="0" i="0" kern="1200" dirty="0">
                          <a:solidFill>
                            <a:schemeClr val="dk1"/>
                          </a:solidFill>
                          <a:effectLst/>
                          <a:latin typeface="+mn-lt"/>
                          <a:ea typeface="+mn-ea"/>
                          <a:cs typeface="+mn-cs"/>
                        </a:rPr>
                        <a:t> Proporciona un espacio de nombres único para los datos de Azure Storage que es accesible desde cualquier lugar del mundo mediante HTTP o HTTPS.</a:t>
                      </a:r>
                      <a:endParaRPr lang="es-PR" dirty="0"/>
                    </a:p>
                  </a:txBody>
                  <a:tcPr/>
                </a:tc>
                <a:extLst>
                  <a:ext uri="{0D108BD9-81ED-4DB2-BD59-A6C34878D82A}">
                    <a16:rowId xmlns:a16="http://schemas.microsoft.com/office/drawing/2014/main" val="2599238619"/>
                  </a:ext>
                </a:extLst>
              </a:tr>
              <a:tr h="710738">
                <a:tc>
                  <a:txBody>
                    <a:bodyPr/>
                    <a:lstStyle/>
                    <a:p>
                      <a:r>
                        <a:rPr lang="es-PR" dirty="0"/>
                        <a:t>Flask</a:t>
                      </a:r>
                    </a:p>
                  </a:txBody>
                  <a:tcPr/>
                </a:tc>
                <a:tc>
                  <a:txBody>
                    <a:bodyPr/>
                    <a:lstStyle/>
                    <a:p>
                      <a:r>
                        <a:rPr lang="es-ES" dirty="0"/>
                        <a:t>Funciona como un servidor web que gestiona rutas de HTTP, renderizado las plantillas de HTML del proyecto.</a:t>
                      </a:r>
                      <a:endParaRPr lang="es-PR" dirty="0"/>
                    </a:p>
                  </a:txBody>
                  <a:tcPr/>
                </a:tc>
                <a:extLst>
                  <a:ext uri="{0D108BD9-81ED-4DB2-BD59-A6C34878D82A}">
                    <a16:rowId xmlns:a16="http://schemas.microsoft.com/office/drawing/2014/main" val="4262212919"/>
                  </a:ext>
                </a:extLst>
              </a:tr>
              <a:tr h="825810">
                <a:tc>
                  <a:txBody>
                    <a:bodyPr/>
                    <a:lstStyle/>
                    <a:p>
                      <a:r>
                        <a:rPr lang="es-PR" dirty="0" err="1"/>
                        <a:t>Boostrap</a:t>
                      </a:r>
                      <a:endParaRPr lang="es-PR" dirty="0"/>
                    </a:p>
                  </a:txBody>
                  <a:tcPr/>
                </a:tc>
                <a:tc>
                  <a:txBody>
                    <a:bodyPr/>
                    <a:lstStyle/>
                    <a:p>
                      <a:r>
                        <a:rPr lang="es-PR" dirty="0"/>
                        <a:t>Se implemento para añadir a la aplicación una interfaz grafica mas amigable a los usuarios que utilizan la aplicación.</a:t>
                      </a:r>
                    </a:p>
                  </a:txBody>
                  <a:tcPr/>
                </a:tc>
                <a:extLst>
                  <a:ext uri="{0D108BD9-81ED-4DB2-BD59-A6C34878D82A}">
                    <a16:rowId xmlns:a16="http://schemas.microsoft.com/office/drawing/2014/main" val="3070248845"/>
                  </a:ext>
                </a:extLst>
              </a:tr>
              <a:tr h="1073554">
                <a:tc>
                  <a:txBody>
                    <a:bodyPr/>
                    <a:lstStyle/>
                    <a:p>
                      <a:r>
                        <a:rPr lang="es-PR" dirty="0"/>
                        <a:t>Repositorio de GitHub</a:t>
                      </a:r>
                    </a:p>
                  </a:txBody>
                  <a:tcPr/>
                </a:tc>
                <a:tc>
                  <a:txBody>
                    <a:bodyPr/>
                    <a:lstStyle/>
                    <a:p>
                      <a:r>
                        <a:rPr lang="es-PR" dirty="0"/>
                        <a:t>Donde se localiza el código de nuestras aplicaciones web. En base a estar ese código en el repositorio Azure App Service coje ese código y realiza el despliegue en la nube.</a:t>
                      </a:r>
                    </a:p>
                  </a:txBody>
                  <a:tcPr/>
                </a:tc>
                <a:extLst>
                  <a:ext uri="{0D108BD9-81ED-4DB2-BD59-A6C34878D82A}">
                    <a16:rowId xmlns:a16="http://schemas.microsoft.com/office/drawing/2014/main" val="3322544654"/>
                  </a:ext>
                </a:extLst>
              </a:tr>
            </a:tbl>
          </a:graphicData>
        </a:graphic>
      </p:graphicFrame>
    </p:spTree>
    <p:extLst>
      <p:ext uri="{BB962C8B-B14F-4D97-AF65-F5344CB8AC3E}">
        <p14:creationId xmlns:p14="http://schemas.microsoft.com/office/powerpoint/2010/main" val="341351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DB32D-FADA-C179-C52D-058ADC4CB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2084B-B1D8-24BD-12D0-593E4F2A4D6C}"/>
              </a:ext>
            </a:extLst>
          </p:cNvPr>
          <p:cNvSpPr>
            <a:spLocks noGrp="1"/>
          </p:cNvSpPr>
          <p:nvPr>
            <p:ph type="title"/>
          </p:nvPr>
        </p:nvSpPr>
        <p:spPr>
          <a:xfrm>
            <a:off x="521208" y="978408"/>
            <a:ext cx="11155680" cy="1056869"/>
          </a:xfrm>
        </p:spPr>
        <p:txBody>
          <a:bodyPr/>
          <a:lstStyle/>
          <a:p>
            <a:r>
              <a:rPr lang="es-PR" dirty="0"/>
              <a:t>Retos y Soluciones:</a:t>
            </a:r>
          </a:p>
        </p:txBody>
      </p:sp>
      <p:sp>
        <p:nvSpPr>
          <p:cNvPr id="3" name="Content Placeholder 2">
            <a:extLst>
              <a:ext uri="{FF2B5EF4-FFF2-40B4-BE49-F238E27FC236}">
                <a16:creationId xmlns:a16="http://schemas.microsoft.com/office/drawing/2014/main" id="{7C191DAC-663C-3CE4-13C7-D8C708E9D391}"/>
              </a:ext>
            </a:extLst>
          </p:cNvPr>
          <p:cNvSpPr>
            <a:spLocks noGrp="1"/>
          </p:cNvSpPr>
          <p:nvPr>
            <p:ph idx="1"/>
          </p:nvPr>
        </p:nvSpPr>
        <p:spPr>
          <a:xfrm>
            <a:off x="521208" y="2182761"/>
            <a:ext cx="11155680" cy="4163175"/>
          </a:xfrm>
        </p:spPr>
        <p:txBody>
          <a:bodyPr/>
          <a:lstStyle/>
          <a:p>
            <a:r>
              <a:rPr lang="nb-NO" dirty="0"/>
              <a:t>Problemas enfrentados</a:t>
            </a:r>
          </a:p>
          <a:p>
            <a:pPr lvl="1"/>
            <a:r>
              <a:rPr lang="nb-NO" dirty="0"/>
              <a:t>Se exihibieron problemas con la inicializacion de la applicación en Microsoft Azure App Service con el repositorio de GitHub.</a:t>
            </a:r>
          </a:p>
          <a:p>
            <a:pPr lvl="1"/>
            <a:r>
              <a:rPr lang="nb-NO" dirty="0"/>
              <a:t>Poder hacer que la applicacion corriera de manera local en nuestras computadoras.</a:t>
            </a:r>
          </a:p>
          <a:p>
            <a:r>
              <a:rPr lang="es-PR" noProof="0" dirty="0"/>
              <a:t>Cómo fueron resueltos</a:t>
            </a:r>
          </a:p>
          <a:p>
            <a:pPr lvl="1"/>
            <a:r>
              <a:rPr lang="es-PR" noProof="0" dirty="0"/>
              <a:t>Para resolver el problema de </a:t>
            </a:r>
            <a:r>
              <a:rPr lang="es-PR" dirty="0"/>
              <a:t>la inicialización de la aplicación, se tuvo que varios “</a:t>
            </a:r>
            <a:r>
              <a:rPr lang="es-PR" dirty="0" err="1"/>
              <a:t>refreshes</a:t>
            </a:r>
            <a:r>
              <a:rPr lang="es-PR" dirty="0"/>
              <a:t>” y “</a:t>
            </a:r>
            <a:r>
              <a:rPr lang="es-PR" dirty="0" err="1"/>
              <a:t>resets</a:t>
            </a:r>
            <a:r>
              <a:rPr lang="es-PR" dirty="0"/>
              <a:t>” a la aplicación en Microsoft Azure App para que al final se pueda presentar sin ningún problema.</a:t>
            </a:r>
          </a:p>
          <a:p>
            <a:pPr lvl="1"/>
            <a:r>
              <a:rPr lang="es-PR" noProof="0" dirty="0"/>
              <a:t>Lastimosamente el problema con correr la aplicación de manera local no se pudo resolver.</a:t>
            </a:r>
          </a:p>
        </p:txBody>
      </p:sp>
    </p:spTree>
    <p:extLst>
      <p:ext uri="{BB962C8B-B14F-4D97-AF65-F5344CB8AC3E}">
        <p14:creationId xmlns:p14="http://schemas.microsoft.com/office/powerpoint/2010/main" val="366844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1E480-CA57-D72F-AAF7-FF4293BBB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88012-88A4-A056-E00A-3C6B0981B558}"/>
              </a:ext>
            </a:extLst>
          </p:cNvPr>
          <p:cNvSpPr>
            <a:spLocks noGrp="1"/>
          </p:cNvSpPr>
          <p:nvPr>
            <p:ph type="title"/>
          </p:nvPr>
        </p:nvSpPr>
        <p:spPr>
          <a:xfrm>
            <a:off x="521208" y="978408"/>
            <a:ext cx="11155680" cy="860331"/>
          </a:xfrm>
        </p:spPr>
        <p:txBody>
          <a:bodyPr/>
          <a:lstStyle/>
          <a:p>
            <a:r>
              <a:rPr lang="es-PR" dirty="0"/>
              <a:t>Lecciones Aprendidas:</a:t>
            </a:r>
          </a:p>
        </p:txBody>
      </p:sp>
      <p:sp>
        <p:nvSpPr>
          <p:cNvPr id="3" name="Content Placeholder 2">
            <a:extLst>
              <a:ext uri="{FF2B5EF4-FFF2-40B4-BE49-F238E27FC236}">
                <a16:creationId xmlns:a16="http://schemas.microsoft.com/office/drawing/2014/main" id="{D5641161-2103-4656-0303-E4969531F3B4}"/>
              </a:ext>
            </a:extLst>
          </p:cNvPr>
          <p:cNvSpPr>
            <a:spLocks noGrp="1"/>
          </p:cNvSpPr>
          <p:nvPr>
            <p:ph idx="1"/>
          </p:nvPr>
        </p:nvSpPr>
        <p:spPr>
          <a:xfrm>
            <a:off x="518160" y="2182761"/>
            <a:ext cx="11155680" cy="4163175"/>
          </a:xfrm>
        </p:spPr>
        <p:txBody>
          <a:bodyPr/>
          <a:lstStyle/>
          <a:p>
            <a:r>
              <a:rPr lang="es-ES" dirty="0"/>
              <a:t>Aprendimos que los servidores en la nube toman una gran cantidad de esfuerzo para que funcionen de manera coherente con todos sus componentes. Fue un nuevo territorio cuando tuvimos que añadir las variables del entorno al App Service sin tener en cuenta como funcionaban, pero cuando inspeccionamos la relación que tenían adentro del código de la aplicación pudimos entender como se relacionaban dándonos un mejor entendimiento de como iba a funcionar ya cuando todo se entrelazara.</a:t>
            </a:r>
            <a:endParaRPr lang="es-PR" noProof="0" dirty="0"/>
          </a:p>
          <a:p>
            <a:r>
              <a:rPr lang="es-ES" dirty="0"/>
              <a:t>Al trabajar el proyecto de manera sudo cooperativa pudimos desarrollar nuestras habilidades en este campo de una manera mucho mas amplia. Aunque no fue posible compartir la misma base de datos por parte de la suscripción de Microsoft Azure que impidió una colaboración directa entre nosotros, como sea pudimos desarrollar el proyecto cumpliendo con los requisitos que el profesor nos </a:t>
            </a:r>
            <a:r>
              <a:rPr lang="es-ES"/>
              <a:t>había asignado.</a:t>
            </a:r>
            <a:endParaRPr lang="es-PR" noProof="0" dirty="0"/>
          </a:p>
        </p:txBody>
      </p:sp>
    </p:spTree>
    <p:extLst>
      <p:ext uri="{BB962C8B-B14F-4D97-AF65-F5344CB8AC3E}">
        <p14:creationId xmlns:p14="http://schemas.microsoft.com/office/powerpoint/2010/main" val="1895646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Proyecto Final: Gestion de tareas">
            <a:hlinkClick r:id="" action="ppaction://media"/>
            <a:extLst>
              <a:ext uri="{FF2B5EF4-FFF2-40B4-BE49-F238E27FC236}">
                <a16:creationId xmlns:a16="http://schemas.microsoft.com/office/drawing/2014/main" id="{CB4C80D7-3EF3-AE39-56BC-F5813CE79E90}"/>
              </a:ext>
            </a:extLst>
          </p:cNvPr>
          <p:cNvPicPr>
            <a:picLocks noRot="1" noChangeAspect="1"/>
          </p:cNvPicPr>
          <p:nvPr>
            <a:videoFile r:link="rId1"/>
          </p:nvPr>
        </p:nvPicPr>
        <p:blipFill>
          <a:blip r:embed="rId3"/>
          <a:stretch>
            <a:fillRect/>
          </a:stretch>
        </p:blipFill>
        <p:spPr>
          <a:xfrm>
            <a:off x="518008" y="279898"/>
            <a:ext cx="11155984" cy="6298203"/>
          </a:xfrm>
          <a:prstGeom prst="rect">
            <a:avLst/>
          </a:prstGeom>
        </p:spPr>
      </p:pic>
    </p:spTree>
    <p:extLst>
      <p:ext uri="{BB962C8B-B14F-4D97-AF65-F5344CB8AC3E}">
        <p14:creationId xmlns:p14="http://schemas.microsoft.com/office/powerpoint/2010/main" val="39818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CD2766-287E-B1DD-3E19-4EEC759A3E80}"/>
              </a:ext>
            </a:extLst>
          </p:cNvPr>
          <p:cNvSpPr>
            <a:spLocks noGrp="1"/>
          </p:cNvSpPr>
          <p:nvPr>
            <p:ph type="ctrTitle"/>
          </p:nvPr>
        </p:nvSpPr>
        <p:spPr>
          <a:xfrm>
            <a:off x="517869" y="829321"/>
            <a:ext cx="8046322" cy="3303764"/>
          </a:xfrm>
        </p:spPr>
        <p:txBody>
          <a:bodyPr anchor="t">
            <a:normAutofit/>
          </a:bodyPr>
          <a:lstStyle/>
          <a:p>
            <a:r>
              <a:rPr lang="es-PR" dirty="0"/>
              <a:t>Gracias por su atención</a:t>
            </a:r>
          </a:p>
        </p:txBody>
      </p:sp>
      <p:sp>
        <p:nvSpPr>
          <p:cNvPr id="11" name="Freeform: Shape 10">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phic 5" descr="Winking Face with No Fill">
            <a:extLst>
              <a:ext uri="{FF2B5EF4-FFF2-40B4-BE49-F238E27FC236}">
                <a16:creationId xmlns:a16="http://schemas.microsoft.com/office/drawing/2014/main" id="{1B161201-B95C-F9C9-3B15-5090C41267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214817" y="1067550"/>
            <a:ext cx="5380268" cy="5380268"/>
          </a:xfrm>
          <a:prstGeom prst="rect">
            <a:avLst/>
          </a:prstGeom>
        </p:spPr>
      </p:pic>
    </p:spTree>
    <p:extLst>
      <p:ext uri="{BB962C8B-B14F-4D97-AF65-F5344CB8AC3E}">
        <p14:creationId xmlns:p14="http://schemas.microsoft.com/office/powerpoint/2010/main" val="156888379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850</TotalTime>
  <Words>579</Words>
  <Application>Microsoft Office PowerPoint</Application>
  <PresentationFormat>Widescreen</PresentationFormat>
  <Paragraphs>38</Paragraphs>
  <Slides>8</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Bierstadt</vt:lpstr>
      <vt:lpstr>GestaltVTI</vt:lpstr>
      <vt:lpstr>Aplicación de gestión de tareas</vt:lpstr>
      <vt:lpstr>Descripción del Proyecto:</vt:lpstr>
      <vt:lpstr>PowerPoint Presentation</vt:lpstr>
      <vt:lpstr>Tecnología Utilizada:</vt:lpstr>
      <vt:lpstr>Retos y Soluciones:</vt:lpstr>
      <vt:lpstr>Lecciones Aprendidas:</vt:lpstr>
      <vt:lpstr>PowerPoint Presentation</vt:lpstr>
      <vt:lpstr>Gracias por su atención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BENYAHIR MARTINEZ HERMINA</dc:creator>
  <cp:lastModifiedBy>BENYAHIR MARTINEZ HERMINA</cp:lastModifiedBy>
  <cp:revision>1</cp:revision>
  <dcterms:created xsi:type="dcterms:W3CDTF">2026-05-12T14:56:01Z</dcterms:created>
  <dcterms:modified xsi:type="dcterms:W3CDTF">2026-05-17T01:31:52Z</dcterms:modified>
</cp:coreProperties>
</file>